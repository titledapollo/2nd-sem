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62367125984252"/>
          <c:y val="0.23185605314960631"/>
          <c:w val="0.82494553805774273"/>
          <c:h val="0.694060285433070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04-41A2-B3EA-267A4F8C7B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04-41A2-B3EA-267A4F8C7B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04-41A2-B3EA-267A4F8C7BB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088088064"/>
        <c:axId val="2088089984"/>
      </c:barChart>
      <c:catAx>
        <c:axId val="2088088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8089984"/>
        <c:crosses val="autoZero"/>
        <c:auto val="1"/>
        <c:lblAlgn val="ctr"/>
        <c:lblOffset val="100"/>
        <c:noMultiLvlLbl val="0"/>
      </c:catAx>
      <c:valAx>
        <c:axId val="20880899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8088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2362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5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9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2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1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9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5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6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9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2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8238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52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67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94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80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08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8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1030">
            <a:extLst>
              <a:ext uri="{FF2B5EF4-FFF2-40B4-BE49-F238E27FC236}">
                <a16:creationId xmlns:a16="http://schemas.microsoft.com/office/drawing/2014/main" id="{E6DE73DA-22B4-4308-A437-AE1EF4D91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33" name="Freeform 17">
            <a:extLst>
              <a:ext uri="{FF2B5EF4-FFF2-40B4-BE49-F238E27FC236}">
                <a16:creationId xmlns:a16="http://schemas.microsoft.com/office/drawing/2014/main" id="{780D251F-2F70-40A0-B5F0-B2A2E1B1F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35" name="Freeform 21">
            <a:extLst>
              <a:ext uri="{FF2B5EF4-FFF2-40B4-BE49-F238E27FC236}">
                <a16:creationId xmlns:a16="http://schemas.microsoft.com/office/drawing/2014/main" id="{810726E9-2111-4F8D-8071-36213C392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37" name="Freeform 20">
            <a:extLst>
              <a:ext uri="{FF2B5EF4-FFF2-40B4-BE49-F238E27FC236}">
                <a16:creationId xmlns:a16="http://schemas.microsoft.com/office/drawing/2014/main" id="{3BE7FA00-64EF-4148-A660-87E685A7E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3716" y="2698990"/>
            <a:ext cx="8503573" cy="3612111"/>
          </a:xfrm>
          <a:custGeom>
            <a:avLst/>
            <a:gdLst>
              <a:gd name="connsiteX0" fmla="*/ 0 w 11329257"/>
              <a:gd name="connsiteY0" fmla="*/ 1672253 h 3112578"/>
              <a:gd name="connsiteX1" fmla="*/ 11201741 w 11329257"/>
              <a:gd name="connsiteY1" fmla="*/ 0 h 3112578"/>
              <a:gd name="connsiteX2" fmla="*/ 11329257 w 11329257"/>
              <a:gd name="connsiteY2" fmla="*/ 2508571 h 3112578"/>
              <a:gd name="connsiteX3" fmla="*/ 0 w 11329257"/>
              <a:gd name="connsiteY3" fmla="*/ 3112578 h 3112578"/>
              <a:gd name="connsiteX4" fmla="*/ 0 w 11329257"/>
              <a:gd name="connsiteY4" fmla="*/ 1672253 h 3112578"/>
              <a:gd name="connsiteX0" fmla="*/ 8467 w 11329257"/>
              <a:gd name="connsiteY0" fmla="*/ 994919 h 3112578"/>
              <a:gd name="connsiteX1" fmla="*/ 11201741 w 11329257"/>
              <a:gd name="connsiteY1" fmla="*/ 0 h 3112578"/>
              <a:gd name="connsiteX2" fmla="*/ 11329257 w 11329257"/>
              <a:gd name="connsiteY2" fmla="*/ 2508571 h 3112578"/>
              <a:gd name="connsiteX3" fmla="*/ 0 w 11329257"/>
              <a:gd name="connsiteY3" fmla="*/ 3112578 h 3112578"/>
              <a:gd name="connsiteX4" fmla="*/ 8467 w 11329257"/>
              <a:gd name="connsiteY4" fmla="*/ 994919 h 3112578"/>
              <a:gd name="connsiteX0" fmla="*/ 814 w 11330070"/>
              <a:gd name="connsiteY0" fmla="*/ 732453 h 3112578"/>
              <a:gd name="connsiteX1" fmla="*/ 11202554 w 11330070"/>
              <a:gd name="connsiteY1" fmla="*/ 0 h 3112578"/>
              <a:gd name="connsiteX2" fmla="*/ 11330070 w 11330070"/>
              <a:gd name="connsiteY2" fmla="*/ 2508571 h 3112578"/>
              <a:gd name="connsiteX3" fmla="*/ 813 w 11330070"/>
              <a:gd name="connsiteY3" fmla="*/ 3112578 h 3112578"/>
              <a:gd name="connsiteX4" fmla="*/ 814 w 11330070"/>
              <a:gd name="connsiteY4" fmla="*/ 732453 h 3112578"/>
              <a:gd name="connsiteX0" fmla="*/ 375 w 11338098"/>
              <a:gd name="connsiteY0" fmla="*/ 622387 h 3112578"/>
              <a:gd name="connsiteX1" fmla="*/ 11210582 w 11338098"/>
              <a:gd name="connsiteY1" fmla="*/ 0 h 3112578"/>
              <a:gd name="connsiteX2" fmla="*/ 11338098 w 11338098"/>
              <a:gd name="connsiteY2" fmla="*/ 2508571 h 3112578"/>
              <a:gd name="connsiteX3" fmla="*/ 8841 w 11338098"/>
              <a:gd name="connsiteY3" fmla="*/ 3112578 h 3112578"/>
              <a:gd name="connsiteX4" fmla="*/ 375 w 11338098"/>
              <a:gd name="connsiteY4" fmla="*/ 622387 h 3112578"/>
              <a:gd name="connsiteX0" fmla="*/ 375 w 11338098"/>
              <a:gd name="connsiteY0" fmla="*/ 1020320 h 3510511"/>
              <a:gd name="connsiteX1" fmla="*/ 11176715 w 11338098"/>
              <a:gd name="connsiteY1" fmla="*/ 0 h 3510511"/>
              <a:gd name="connsiteX2" fmla="*/ 11338098 w 11338098"/>
              <a:gd name="connsiteY2" fmla="*/ 2906504 h 3510511"/>
              <a:gd name="connsiteX3" fmla="*/ 8841 w 11338098"/>
              <a:gd name="connsiteY3" fmla="*/ 3510511 h 3510511"/>
              <a:gd name="connsiteX4" fmla="*/ 375 w 11338098"/>
              <a:gd name="connsiteY4" fmla="*/ 1020320 h 3510511"/>
              <a:gd name="connsiteX0" fmla="*/ 375 w 11338098"/>
              <a:gd name="connsiteY0" fmla="*/ 664720 h 3510511"/>
              <a:gd name="connsiteX1" fmla="*/ 11176715 w 11338098"/>
              <a:gd name="connsiteY1" fmla="*/ 0 h 3510511"/>
              <a:gd name="connsiteX2" fmla="*/ 11338098 w 11338098"/>
              <a:gd name="connsiteY2" fmla="*/ 2906504 h 3510511"/>
              <a:gd name="connsiteX3" fmla="*/ 8841 w 11338098"/>
              <a:gd name="connsiteY3" fmla="*/ 3510511 h 3510511"/>
              <a:gd name="connsiteX4" fmla="*/ 375 w 11338098"/>
              <a:gd name="connsiteY4" fmla="*/ 664720 h 3510511"/>
              <a:gd name="connsiteX0" fmla="*/ 375 w 11338098"/>
              <a:gd name="connsiteY0" fmla="*/ 605454 h 3510511"/>
              <a:gd name="connsiteX1" fmla="*/ 11176715 w 11338098"/>
              <a:gd name="connsiteY1" fmla="*/ 0 h 3510511"/>
              <a:gd name="connsiteX2" fmla="*/ 11338098 w 11338098"/>
              <a:gd name="connsiteY2" fmla="*/ 2906504 h 3510511"/>
              <a:gd name="connsiteX3" fmla="*/ 8841 w 11338098"/>
              <a:gd name="connsiteY3" fmla="*/ 3510511 h 3510511"/>
              <a:gd name="connsiteX4" fmla="*/ 375 w 11338098"/>
              <a:gd name="connsiteY4" fmla="*/ 605454 h 3510511"/>
              <a:gd name="connsiteX0" fmla="*/ 375 w 11338098"/>
              <a:gd name="connsiteY0" fmla="*/ 707054 h 3612111"/>
              <a:gd name="connsiteX1" fmla="*/ 11176715 w 11338098"/>
              <a:gd name="connsiteY1" fmla="*/ 0 h 3612111"/>
              <a:gd name="connsiteX2" fmla="*/ 11338098 w 11338098"/>
              <a:gd name="connsiteY2" fmla="*/ 3008104 h 3612111"/>
              <a:gd name="connsiteX3" fmla="*/ 8841 w 11338098"/>
              <a:gd name="connsiteY3" fmla="*/ 3612111 h 3612111"/>
              <a:gd name="connsiteX4" fmla="*/ 375 w 11338098"/>
              <a:gd name="connsiteY4" fmla="*/ 707054 h 3612111"/>
              <a:gd name="connsiteX0" fmla="*/ 375 w 11338098"/>
              <a:gd name="connsiteY0" fmla="*/ 571588 h 3612111"/>
              <a:gd name="connsiteX1" fmla="*/ 11176715 w 11338098"/>
              <a:gd name="connsiteY1" fmla="*/ 0 h 3612111"/>
              <a:gd name="connsiteX2" fmla="*/ 11338098 w 11338098"/>
              <a:gd name="connsiteY2" fmla="*/ 3008104 h 3612111"/>
              <a:gd name="connsiteX3" fmla="*/ 8841 w 11338098"/>
              <a:gd name="connsiteY3" fmla="*/ 3612111 h 3612111"/>
              <a:gd name="connsiteX4" fmla="*/ 375 w 11338098"/>
              <a:gd name="connsiteY4" fmla="*/ 571588 h 361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38098" h="3612111">
                <a:moveTo>
                  <a:pt x="375" y="571588"/>
                </a:moveTo>
                <a:lnTo>
                  <a:pt x="11176715" y="0"/>
                </a:lnTo>
                <a:lnTo>
                  <a:pt x="11338098" y="3008104"/>
                </a:lnTo>
                <a:lnTo>
                  <a:pt x="8841" y="3612111"/>
                </a:lnTo>
                <a:cubicBezTo>
                  <a:pt x="11663" y="2906225"/>
                  <a:pt x="-2447" y="1277474"/>
                  <a:pt x="375" y="571588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026" name="Picture 2" descr="Global Warming VS Climate Change. Planet earth ,ecology concept, global ...">
            <a:extLst>
              <a:ext uri="{FF2B5EF4-FFF2-40B4-BE49-F238E27FC236}">
                <a16:creationId xmlns:a16="http://schemas.microsoft.com/office/drawing/2014/main" id="{51BCD26A-AFB4-F6B7-8180-85A47B085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9" r="-1" b="25713"/>
          <a:stretch/>
        </p:blipFill>
        <p:spPr bwMode="auto">
          <a:xfrm rot="21420000">
            <a:off x="275325" y="389334"/>
            <a:ext cx="7701297" cy="240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Freeform 19">
            <a:extLst>
              <a:ext uri="{FF2B5EF4-FFF2-40B4-BE49-F238E27FC236}">
                <a16:creationId xmlns:a16="http://schemas.microsoft.com/office/drawing/2014/main" id="{CEF5F7E6-DBA5-4D9A-AEF9-5A2DA9991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372735" y="3221623"/>
            <a:ext cx="7698352" cy="1250066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Exploring Climate Change</a:t>
            </a:r>
            <a:br>
              <a:rPr lang="en-IN" sz="40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name – ANANYA DEY</a:t>
            </a:r>
          </a:p>
        </p:txBody>
      </p:sp>
      <p:sp>
        <p:nvSpPr>
          <p:cNvPr id="1041" name="5-Point Star 12">
            <a:extLst>
              <a:ext uri="{FF2B5EF4-FFF2-40B4-BE49-F238E27FC236}">
                <a16:creationId xmlns:a16="http://schemas.microsoft.com/office/drawing/2014/main" id="{EE522866-FC2D-416B-98CF-378696558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403758" y="4356657"/>
            <a:ext cx="7703650" cy="4941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Understanding causes, impacts, and solutions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799" y="915337"/>
            <a:ext cx="6798734" cy="1303867"/>
          </a:xfrm>
        </p:spPr>
        <p:txBody>
          <a:bodyPr/>
          <a:lstStyle/>
          <a:p>
            <a:r>
              <a:rPr lang="en-IN" dirty="0"/>
              <a:t>Causes of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797" y="3010996"/>
            <a:ext cx="6798736" cy="3444997"/>
          </a:xfrm>
        </p:spPr>
        <p:txBody>
          <a:bodyPr>
            <a:normAutofit/>
          </a:bodyPr>
          <a:lstStyle/>
          <a:p>
            <a:r>
              <a:rPr lang="en-US" dirty="0"/>
              <a:t>- Fossil Fuels (57%)</a:t>
            </a:r>
          </a:p>
          <a:p>
            <a:r>
              <a:rPr lang="en-US" dirty="0"/>
              <a:t>- Deforestation (17%)</a:t>
            </a:r>
          </a:p>
          <a:p>
            <a:r>
              <a:rPr lang="en-US" dirty="0"/>
              <a:t>- Agriculture (14%)</a:t>
            </a:r>
          </a:p>
          <a:p>
            <a:r>
              <a:rPr lang="en-US" dirty="0"/>
              <a:t>- Industrial Processes (6%)</a:t>
            </a:r>
          </a:p>
          <a:p>
            <a:r>
              <a:rPr lang="en-US" dirty="0"/>
              <a:t>- Natural Causes (6%)</a:t>
            </a:r>
          </a:p>
          <a:p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A9E2C1F-2098-C3C5-D3E9-6CA4BD25B4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592572"/>
              </p:ext>
            </p:extLst>
          </p:nvPr>
        </p:nvGraphicFramePr>
        <p:xfrm>
          <a:off x="4572000" y="2916418"/>
          <a:ext cx="3973975" cy="2544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3 Things You Should Know: Climate Change’s Impact on Extreme-Weather Events">
            <a:extLst>
              <a:ext uri="{FF2B5EF4-FFF2-40B4-BE49-F238E27FC236}">
                <a16:creationId xmlns:a16="http://schemas.microsoft.com/office/drawing/2014/main" id="{5B3952FE-ACEF-E0FB-5583-54F69635F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" r="1072" b="1"/>
          <a:stretch/>
        </p:blipFill>
        <p:spPr bwMode="auto">
          <a:xfrm>
            <a:off x="364603" y="486568"/>
            <a:ext cx="842058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Global Impact of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Table: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Metric | 1900 | 2020 | 2050 (Projected)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-----------------------------------------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Temp (°C) | +0.1 | +1.1 | +2.0 to +3.5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Sea Level (cm) | 0 | +20 | +40 to +70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Ice Extent (M km²) | 7.0 | 4.2 | &lt;2.0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Forest Loss (M ha) | — | ~100 | —</a:t>
            </a:r>
          </a:p>
          <a:p>
            <a:pPr>
              <a:lnSpc>
                <a:spcPct val="90000"/>
              </a:lnSpc>
            </a:pPr>
            <a:endParaRPr lang="en-IN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Voiceover: Earth is changing — accelerating impacts.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limate change, conceptual composite image - Stock Image - F034/1689 ...">
            <a:extLst>
              <a:ext uri="{FF2B5EF4-FFF2-40B4-BE49-F238E27FC236}">
                <a16:creationId xmlns:a16="http://schemas.microsoft.com/office/drawing/2014/main" id="{3FAF62D3-B235-61A7-C0A0-4D5AB1F57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4" b="1"/>
          <a:stretch/>
        </p:blipFill>
        <p:spPr bwMode="auto">
          <a:xfrm>
            <a:off x="364603" y="486568"/>
            <a:ext cx="842058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Global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Solutions Table: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Solar/Wind Energy: High impact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Carbon Tax: Medium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Reforestation: High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Electric Vehicles: Medium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Recycling &amp; Efficiency: Medium</a:t>
            </a:r>
          </a:p>
          <a:p>
            <a:pPr>
              <a:lnSpc>
                <a:spcPct val="90000"/>
              </a:lnSpc>
            </a:pPr>
            <a:endParaRPr lang="en-IN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Video: UN Climate Action Solutions (YouTube)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y Underground Climate Change in news?">
            <a:extLst>
              <a:ext uri="{FF2B5EF4-FFF2-40B4-BE49-F238E27FC236}">
                <a16:creationId xmlns:a16="http://schemas.microsoft.com/office/drawing/2014/main" id="{3CF4D597-B436-F2D4-6C7B-A6CC8514D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4" b="1"/>
          <a:stretch/>
        </p:blipFill>
        <p:spPr bwMode="auto">
          <a:xfrm>
            <a:off x="364603" y="486568"/>
            <a:ext cx="842058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Individual Actions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Bar Chart (not shown):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Going car-free: 2,400 kg/year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Switching to LEDs: 400 kg/year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Recycling more: 600 kg/year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Plant-based meals: 1,000 kg/year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Sound Effects: Light switch, bike bell, leaves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953" y="577018"/>
            <a:ext cx="2745042" cy="1325373"/>
          </a:xfrm>
        </p:spPr>
        <p:txBody>
          <a:bodyPr anchor="b">
            <a:normAutofit/>
          </a:bodyPr>
          <a:lstStyle/>
          <a:p>
            <a:r>
              <a:rPr lang="en-US" sz="2800" u="sng" dirty="0">
                <a:solidFill>
                  <a:srgbClr val="262626"/>
                </a:solidFill>
                <a:latin typeface="AngsanaUPC" panose="020B0502040204020203" pitchFamily="18" charset="-34"/>
                <a:cs typeface="AngsanaUPC" panose="020B0502040204020203" pitchFamily="18" charset="-34"/>
              </a:rPr>
              <a:t>Act Now for Our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952" y="2097954"/>
            <a:ext cx="2745043" cy="3382094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262626"/>
                </a:solidFill>
                <a:latin typeface="Amasis MT Pro" panose="02040504050005020304" pitchFamily="18" charset="0"/>
              </a:rPr>
              <a:t>Video Montage: Planting trees, youth marches, wildlife</a:t>
            </a:r>
          </a:p>
          <a:p>
            <a:endParaRPr lang="en-US" sz="1800" dirty="0">
              <a:solidFill>
                <a:srgbClr val="262626"/>
              </a:solidFill>
              <a:latin typeface="Amasis MT Pro" panose="02040504050005020304" pitchFamily="18" charset="0"/>
            </a:endParaRPr>
          </a:p>
          <a:p>
            <a:r>
              <a:rPr lang="en-US" sz="1800" dirty="0">
                <a:solidFill>
                  <a:srgbClr val="262626"/>
                </a:solidFill>
                <a:latin typeface="Amasis MT Pro" panose="02040504050005020304" pitchFamily="18" charset="0"/>
              </a:rPr>
              <a:t>"Climate change isn’t just a future problem—it’s now. Every action counts. Be part of the solution. Speak up. Show up. Start today."</a:t>
            </a:r>
          </a:p>
          <a:p>
            <a:endParaRPr lang="en-US" sz="1800" dirty="0">
              <a:solidFill>
                <a:srgbClr val="262626"/>
              </a:solidFill>
              <a:latin typeface="Amasis MT Pro" panose="02040504050005020304" pitchFamily="18" charset="0"/>
            </a:endParaRPr>
          </a:p>
        </p:txBody>
      </p:sp>
      <p:pic>
        <p:nvPicPr>
          <p:cNvPr id="5122" name="Picture 2" descr="Green Earth Clipart">
            <a:extLst>
              <a:ext uri="{FF2B5EF4-FFF2-40B4-BE49-F238E27FC236}">
                <a16:creationId xmlns:a16="http://schemas.microsoft.com/office/drawing/2014/main" id="{F60ECB1E-777C-0F8E-8CB3-C11B5D2F6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64001" y="1377949"/>
            <a:ext cx="4102099" cy="4102099"/>
          </a:xfrm>
          <a:prstGeom prst="rect">
            <a:avLst/>
          </a:prstGeom>
          <a:noFill/>
          <a:ln w="57150" cmpd="thickThin">
            <a:solidFill>
              <a:srgbClr val="7F7F7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28</TotalTime>
  <Words>274</Words>
  <Application>Microsoft Office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Amasis MT Pro</vt:lpstr>
      <vt:lpstr>AngsanaUPC</vt:lpstr>
      <vt:lpstr>Arial</vt:lpstr>
      <vt:lpstr>Impact</vt:lpstr>
      <vt:lpstr>Main Event</vt:lpstr>
      <vt:lpstr>Exploring Climate Change name – ANANYA DEY</vt:lpstr>
      <vt:lpstr>Causes of Climate Change</vt:lpstr>
      <vt:lpstr>Global Impact of Climate Change</vt:lpstr>
      <vt:lpstr>Global Solutions</vt:lpstr>
      <vt:lpstr>Individual Actions Matter</vt:lpstr>
      <vt:lpstr>Act Now for Our Future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Climate Change name – ANANYA DEY</dc:title>
  <dc:subject/>
  <dc:creator>Mantrit Bar</dc:creator>
  <cp:keywords/>
  <dc:description>generated using python-pptx</dc:description>
  <cp:lastModifiedBy>Mantrit Bar</cp:lastModifiedBy>
  <cp:revision>5</cp:revision>
  <dcterms:created xsi:type="dcterms:W3CDTF">2013-01-27T09:14:16Z</dcterms:created>
  <dcterms:modified xsi:type="dcterms:W3CDTF">2025-05-03T09:01:39Z</dcterms:modified>
  <cp:category/>
</cp:coreProperties>
</file>